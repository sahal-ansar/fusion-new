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73E8"/>
                </a:solidFill>
                <a:latin typeface="Roboto"/>
              </a:rPr>
              <a:t>EVALUATION 2  -  HONORS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02124"/>
                </a:solidFill>
                <a:latin typeface="Google Sans"/>
              </a:rPr>
              <a:t>Event-Guided Motion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202124"/>
                </a:solidFill>
                <a:latin typeface="Google Sans"/>
              </a:rPr>
              <a:t>Compensation for LiDAR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202124"/>
                </a:solidFill>
                <a:latin typeface="Google Sans"/>
              </a:rPr>
              <a:t>Temporal Distortion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51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6368"/>
                </a:solidFill>
                <a:latin typeface="Roboto"/>
              </a:rPr>
              <a:t>A lightweight, image-space pipeline for autonomous driving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02124"/>
                </a:solidFill>
                <a:latin typeface="Roboto"/>
              </a:rPr>
              <a:t>Sahal Ansar Theparambil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852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Department of Engineering  -  IIIT Sri City</a:t>
            </a:r>
          </a:p>
        </p:txBody>
      </p:sp>
      <p:pic>
        <p:nvPicPr>
          <p:cNvPr id="8" name="Picture 7" descr="illust_hero_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5029200" cy="26183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A spinning LiDAR doesn't take a snapshot.</a:t>
            </a:r>
          </a:p>
        </p:txBody>
      </p:sp>
      <p:pic>
        <p:nvPicPr>
          <p:cNvPr id="4" name="Picture 3" descr="swee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498079" cy="42743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874519"/>
            <a:ext cx="3383280" cy="4206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ONE SCAN, 100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423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02124"/>
                </a:solidFill>
                <a:latin typeface="Google Sans"/>
              </a:rPr>
              <a:t>64 beams.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202124"/>
                </a:solidFill>
                <a:latin typeface="Google Sans"/>
              </a:rPr>
              <a:t>One rotation.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520440"/>
            <a:ext cx="3017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Each beam fires at a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different moment.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At 60 km/h the ego car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travels 1.67 m between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the first and last beam.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Result: projected points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no longer line up with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the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Misalignment compounds at every fusion step.</a:t>
            </a:r>
          </a:p>
        </p:txBody>
      </p:sp>
      <p:pic>
        <p:nvPicPr>
          <p:cNvPr id="4" name="Picture 3" descr="illust_problem_gh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315200" cy="2548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A4335"/>
                </a:solidFill>
                <a:latin typeface="Google Sans"/>
              </a:rPr>
              <a:t>100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788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scan duration on a 10 Hz Velodyne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429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BBC04"/>
                </a:solidFill>
                <a:latin typeface="Google Sans"/>
              </a:rPr>
              <a:t>1.67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97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ego displacement at highway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02124"/>
                </a:solidFill>
                <a:latin typeface="Google Sans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moving cars and people inside the 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You can see the mismatch in a single KITTI frame.</a:t>
            </a:r>
          </a:p>
        </p:txBody>
      </p:sp>
      <p:pic>
        <p:nvPicPr>
          <p:cNvPr id="4" name="Picture 3" descr="misalignment_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7680960" cy="4068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WHAT YOU'RE LOOKING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331720"/>
            <a:ext cx="3017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Red dots: LiDAR points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projected with static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calibration.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Yellow arrows: where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dense optical flow says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those points should sit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in the next frame.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Static calibration cannot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close this gap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Existing fixes need hardware or GPUs.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i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39" y="2011680"/>
            <a:ext cx="1280160" cy="1280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59" y="3520440"/>
            <a:ext cx="320040" cy="640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02124"/>
                </a:solidFill>
                <a:latin typeface="Google Sans"/>
              </a:rPr>
              <a:t>IMU de-skew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16052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Integrates ego-motion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between per-point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timestamps.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Needs raw timestamps and tight inertial coupling - unavailable in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KITTI-sync.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566160" cy="4206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011680"/>
            <a:ext cx="1280160" cy="1280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63440" y="3520440"/>
            <a:ext cx="320040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02124"/>
                </a:solidFill>
                <a:latin typeface="Google Sans"/>
              </a:rPr>
              <a:t>Deep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6052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Transformer / CNN models for cross-modal alignment.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Strong benchmarks but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require GPU inference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and training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566160" cy="4206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011680"/>
            <a:ext cx="1280160" cy="12801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503920" y="3520440"/>
            <a:ext cx="320040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02124"/>
                </a:solidFill>
                <a:latin typeface="Google Sans"/>
              </a:rPr>
              <a:t>Ours (classical)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16052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Image-space optical flow,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event-gated, no DL,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no IMU, no hardware.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Runs on a laptop CPU and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covers both ego- and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scene-motion.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RELATED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Where the first evaluation left off.</a:t>
            </a:r>
          </a:p>
        </p:txBody>
      </p:sp>
      <p:pic>
        <p:nvPicPr>
          <p:cNvPr id="4" name="Picture 3" descr="first_eval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863840" cy="3755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WHAT WAS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331720"/>
            <a:ext cx="3200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End-to-end classical pipeline: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project -&gt; simulate -&gt; flow -&gt;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event-gated fix.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Interactive demo in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main.py with side-by-side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before/after views.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Validation harness reading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4 KITTI sequences and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comparing modes.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Open questions: does it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generalize, and does it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measurably help?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Four stages, all in 2D image space.</a:t>
            </a:r>
          </a:p>
        </p:txBody>
      </p:sp>
      <p:pic>
        <p:nvPicPr>
          <p:cNvPr id="4" name="Picture 3" descr="fig7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6128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ONE-LINE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331720"/>
            <a:ext cx="3200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Take the dense flow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between two RGB frames.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Use simulated events as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 confidence gate so the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fix only fires where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something actually moved.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Smooth across time to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keep the correction stable.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Apply only to the 2D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LiDAR projection - no 3D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points 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The trick: trust flow only where events fire.</a:t>
            </a:r>
          </a:p>
        </p:txBody>
      </p:sp>
      <p:pic>
        <p:nvPicPr>
          <p:cNvPr id="4" name="Picture 3" descr="event_map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863840" cy="1439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WHY GATING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331720"/>
            <a:ext cx="3200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Optical flow estimates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something everywhere -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even over a flat road.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log(I_t+1) - log(I_t)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approximates a DVS sensor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at near-zero compute cost.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Edge-proximity filtering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localizes events to true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scene boundaries.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Net effect: correction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fires on objects,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Roboto"/>
              </a:rPr>
              <a:t>stays quiet on flat 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Each stage is a few lines of NumPy / OpenCV.</a:t>
            </a:r>
          </a:p>
        </p:txBody>
      </p:sp>
      <p:pic>
        <p:nvPicPr>
          <p:cNvPr id="4" name="Picture 3" descr="illust_pipeline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1064240" cy="27971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4800600"/>
            <a:ext cx="365760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KITTI calibration chain: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P_rect @ R_rect @ T_velo-&gt;cam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4800600"/>
            <a:ext cx="365760" cy="640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4937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53492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log-intensity diff,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threshold = 0.3,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edge-gated by Canny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4800600"/>
            <a:ext cx="365760" cy="64008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4937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53492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Farneback dense flow,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EMA-smoothed with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alpha = 0.7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4800600"/>
            <a:ext cx="365760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4937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534924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Shift point by 0.5 x flow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only inside the event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QUALITATIVE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Sharper alignment on real KITTI frames.</a:t>
            </a:r>
          </a:p>
        </p:txBody>
      </p:sp>
      <p:pic>
        <p:nvPicPr>
          <p:cNvPr id="4" name="Picture 3" descr="before_aft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10332720" cy="255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Zoom on drive_0009 frame 40. Same LiDAR scan, projected onto frame t+1, before and after the event-gated correction.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QUANTITATIVE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Statistically significant across 24 sequences.</a:t>
            </a:r>
          </a:p>
        </p:txBody>
      </p:sp>
      <p:pic>
        <p:nvPicPr>
          <p:cNvPr id="4" name="Picture 3" descr="fig_speas_src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863840" cy="19341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0" y="1874519"/>
            <a:ext cx="3108960" cy="13716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9659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SPEAS  -  edge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28600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4A853"/>
                </a:solidFill>
                <a:latin typeface="Google Sans"/>
              </a:rPr>
              <a:t>+0.64 %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8803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p &lt; 0.001  -  Cohen's d = 1.05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429000"/>
            <a:ext cx="3108960" cy="13716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35204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SRC  -  stereo reprojection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8404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4A853"/>
                </a:solidFill>
                <a:latin typeface="Google Sans"/>
              </a:rPr>
              <a:t>+0.37 %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434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p &lt; 0.001  -  d = 0.90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4983480"/>
            <a:ext cx="3108960" cy="105156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50749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BBC04"/>
                </a:solidFill>
                <a:latin typeface="Roboto"/>
              </a:rPr>
              <a:t>23 / 24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53492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Roboto"/>
              </a:rPr>
              <a:t>we beat the IMU-only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Roboto"/>
              </a:rPr>
              <a:t>baseline on both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DOWNSTREAM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Sharper depth edges at object boundaries.</a:t>
            </a:r>
          </a:p>
        </p:txBody>
      </p:sp>
      <p:pic>
        <p:nvPicPr>
          <p:cNvPr id="4" name="Picture 3" descr="fig_bdps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315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0" y="2194560"/>
            <a:ext cx="3383280" cy="24688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2331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BDPS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697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FFFFFF"/>
                </a:solidFill>
                <a:latin typeface="Google Sans"/>
              </a:rPr>
              <a:t>+48.5 %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069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Roboto"/>
              </a:rPr>
              <a:t>mean improvement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Roboto"/>
              </a:rPr>
              <a:t>across 1,691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02124"/>
                </a:solidFill>
                <a:latin typeface="Roboto"/>
              </a:rPr>
              <a:t>99.2 % of frames improve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BDPS = Sobel-gradient sharpness of sparse depth near image edges.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ABLATION &amp;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Every component carries its weight.</a:t>
            </a:r>
          </a:p>
        </p:txBody>
      </p:sp>
      <p:pic>
        <p:nvPicPr>
          <p:cNvPr id="4" name="Picture 3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548640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06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Drop event gating -&gt; SRC goes negative.  alpha = 0.75 -&gt; both worsen.</a:t>
            </a:r>
          </a:p>
        </p:txBody>
      </p:sp>
      <p:pic>
        <p:nvPicPr>
          <p:cNvPr id="6" name="Picture 5" descr="fig_runtim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4864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806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Total 114.5 ms / pair  (8.7 Hz, CPU). Farneback is 87% of the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02124"/>
                </a:solidFill>
                <a:latin typeface="Google Sans"/>
              </a:rPr>
              <a:t>A small classical idea, a measurable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3E8"/>
                </a:solidFill>
                <a:latin typeface="Roboto"/>
              </a:rP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50008"/>
            <a:ext cx="109728" cy="2926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Image-space is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Correcting the projection, not the point cloud,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18688"/>
            <a:ext cx="109728" cy="2926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Events as a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Simulated DVS-style events cheaply localize where to fire.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87368"/>
            <a:ext cx="109728" cy="2926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Beats IMU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On 23/24 KITTI sequences - dynamic objects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56048"/>
            <a:ext cx="109728" cy="2926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124"/>
                </a:solidFill>
                <a:latin typeface="Google Sans"/>
              </a:rPr>
              <a:t>Real-time-adjacent on CPU.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8.7 Hz today; GPU flow takes us past 10 Hz.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828800"/>
            <a:ext cx="4754880" cy="4297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9659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A4335"/>
                </a:solidFill>
                <a:latin typeface="Roboto"/>
              </a:rPr>
              <a:t>WHAT'S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3317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124"/>
                </a:solidFill>
                <a:latin typeface="Google Sans"/>
              </a:rPr>
              <a:t>Future directions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1089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4335"/>
                </a:solidFill>
                <a:latin typeface="Roboto"/>
              </a:rP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1089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Per-scan-angle temporal offset estimation.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749039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4335"/>
                </a:solidFill>
                <a:latin typeface="Roboto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749039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3D extension via depth-preserved unprojection.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3891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4335"/>
                </a:solidFill>
                <a:latin typeface="Roboto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3891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Validation on a real LiDAR-event dataset (DSEC).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4335"/>
                </a:solidFill>
                <a:latin typeface="Roboto"/>
              </a:rP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02920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02124"/>
                </a:solidFill>
                <a:latin typeface="Roboto"/>
              </a:rPr>
              <a:t>GPU Farneback / RAFT for full 10 Hz throughput.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457200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73E8"/>
                </a:solidFill>
                <a:latin typeface="Roboto"/>
              </a:rPr>
              <a:t>EVALUATION 2  -  HONORS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202124"/>
                </a:solidFill>
                <a:latin typeface="Google Sans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6368"/>
                </a:solidFill>
                <a:latin typeface="Roboto"/>
              </a:rPr>
              <a:t>Questions and comments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02124"/>
                </a:solidFill>
                <a:latin typeface="Roboto"/>
              </a:rPr>
              <a:t>Sahal Ansar Theparambil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F6368"/>
                </a:solidFill>
                <a:latin typeface="Roboto"/>
              </a:rPr>
              <a:t>sahalansar.t23@iiits.in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73E8"/>
                </a:solidFill>
                <a:latin typeface="Roboto"/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Geiger et al., KITTI dataset, IJRR 2013.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Farneback, Two-frame motion estimation, SCIA 2003.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Lichtsteiner et al., 128x128 DVS, JSSC 2008.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F6368"/>
                </a:solidFill>
                <a:latin typeface="Roboto"/>
              </a:rPr>
              <a:t>Gallego et al., Event-based optical flow, TPAMI 2024.</a:t>
            </a:r>
          </a:p>
        </p:txBody>
      </p:sp>
      <p:pic>
        <p:nvPicPr>
          <p:cNvPr id="10" name="Picture 9" descr="illust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4572000" cy="2436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F6368"/>
                </a:solidFill>
                <a:latin typeface="Roboto"/>
              </a:rPr>
              <a:t>THANKS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F6368"/>
                </a:solidFill>
                <a:latin typeface="Robot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